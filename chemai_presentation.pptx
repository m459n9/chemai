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8EAED"/>
                </a:solidFill>
                <a:latin typeface="Inter"/>
              </a:rPr>
              <a:t>ChemAI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4FC3F7"/>
                </a:solidFill>
                <a:latin typeface="Inter"/>
              </a:rPr>
              <a:t>Predict the Cure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114800"/>
            <a:ext cx="2286000" cy="381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EAED"/>
                </a:solidFill>
                <a:latin typeface="Inter"/>
              </a:rPr>
              <a:t>Команда — Тима Тимы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9AA0A6"/>
                </a:solidFill>
                <a:latin typeface="Inter"/>
              </a:rPr>
              <a:t>Хакатон: предсказание биологической активности химических соединений против вируса гриппа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B74D"/>
                </a:solidFill>
                <a:latin typeface="Inter"/>
              </a:rPr>
              <a:t>Public LB: 290.09  /  7-е место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Постановка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Регрессия трёх биологических показателей по 210 RDKit-дескрипторам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Inter"/>
              </a:rPr>
              <a:t>IC50,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004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Концентрация полуингибирования</a:t>
            </a:r>
          </a:p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вирусной активности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7744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Inter"/>
              </a:rPr>
              <a:t>CC50,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Цитотоксическая концентрация</a:t>
            </a:r>
          </a:p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(50 % гибели клеток)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7744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560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Inter"/>
              </a:rPr>
              <a:t>SI = CC50/IC50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004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Индекс селективности</a:t>
            </a:r>
          </a:p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(чем выше — тем лучше препарат)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B74D"/>
                </a:solidFill>
                <a:latin typeface="Inter"/>
              </a:rPr>
              <a:t>Данные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94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  <a:latin typeface="Inter"/>
              </a:rPr>
              <a:t>751 строка train  ·  250 строк test  ·  210 признаков  ·  метрика — RMSE  ·  внешние данные запрещены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Результат на Kaggle</a:t>
            </a:r>
          </a:p>
        </p:txBody>
      </p:sp>
      <p:pic>
        <p:nvPicPr>
          <p:cNvPr id="6" name="Picture 5" descr="kaggl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10972800" cy="1463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0233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0A6"/>
                </a:solidFill>
                <a:latin typeface="Inter"/>
              </a:rPr>
              <a:t>Стартовый baseline команды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262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EF5350"/>
                </a:solidFill>
                <a:latin typeface="Inter"/>
              </a:rPr>
              <a:t>305.03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0A6"/>
                </a:solidFill>
                <a:latin typeface="Inter"/>
              </a:rPr>
              <a:t>Финальный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66BB6A"/>
                </a:solidFill>
                <a:latin typeface="Inter"/>
              </a:rPr>
              <a:t>290.09  →  −15 пунктов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0233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0A6"/>
                </a:solidFill>
                <a:latin typeface="Inter"/>
              </a:rPr>
              <a:t>OOF log-RMSE (финальный стек)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Inter"/>
              </a:rPr>
              <a:t>IC50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FC3F7"/>
                </a:solidFill>
                <a:latin typeface="Inter"/>
              </a:rPr>
              <a:t>1.2665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983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Inter"/>
              </a:rPr>
              <a:t>CC50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983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FC3F7"/>
                </a:solidFill>
                <a:latin typeface="Inter"/>
              </a:rPr>
              <a:t>0.9618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Inter"/>
              </a:rPr>
              <a:t>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4FC3F7"/>
                </a:solidFill>
                <a:latin typeface="Inter"/>
              </a:rPr>
              <a:t>0.9381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Inter"/>
              </a:rPr>
              <a:t>Mean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FB74D"/>
                </a:solidFill>
                <a:latin typeface="Inter"/>
              </a:rPr>
              <a:t>1.0555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Что важно про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Четыре сигнала из EDA, которые сформировали весь пайплайн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532120" cy="19659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365760" cy="381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Inter"/>
              </a:rPr>
              <a:t>Малая выборка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751 train  ·  250 test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Любая модель → высокая variance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→ mixup-аугментация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5532120" cy="19659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59" y="2514600"/>
            <a:ext cx="365760" cy="381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Inter"/>
              </a:rPr>
              <a:t>Лог-нормальные таргеты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315468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Все три таргета сильно скошены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log1p даёт почти симметричное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распределение → обязательно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5532120" cy="19659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663440"/>
            <a:ext cx="365760" cy="381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Inter"/>
              </a:rPr>
              <a:t>Точная формула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SI = CC50 / IC50 в trainе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log1p ломает мультипликативность,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остаётся 3 независимых модели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434840"/>
            <a:ext cx="5532120" cy="19659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59" y="4663440"/>
            <a:ext cx="365760" cy="381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800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Inter"/>
              </a:rPr>
              <a:t>Шум в измерениях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5303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181 дубликат в 60 группах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log_std до 1.5 внутри группы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→ дедупликация с агрегацией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Цензурирование CC50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In-vitro анализ имеет верхний порог — оставляет систематические артефакты в таргете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IC50 == CC50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4FC3F7"/>
                </a:solidFill>
                <a:latin typeface="Inter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вещество вообще не работает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(SI ≈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28600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CC50 ≥ 3284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4FC3F7"/>
                </a:solidFill>
                <a:latin typeface="Inter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576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assay ceiling — реальная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токсичность могла быть выше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86000"/>
            <a:ext cx="3566160" cy="237744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Round CC50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346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4FC3F7"/>
                </a:solidFill>
                <a:latin typeface="Inter"/>
              </a:rPr>
              <a:t>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576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100/200/250/300/500 mM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— "не измеряли точнее"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11064240" cy="15087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B74D"/>
                </a:solidFill>
                <a:latin typeface="Inter"/>
              </a:rPr>
              <a:t>Что сделали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Добавили бинарные флаги — is_si_one, is_assay_ceiling, is_round_cc50, is_censored. Деревья учатся отдельно обрабатывать стандартные и аномальные точки, не пытаясь интерполировать через "пограничные" значения.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Только признаки с chemico-biological мотивацией  ·  +40 фичей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66160" cy="1874519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Censoring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is_si_one,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is_assay_ceiling,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is_round_cc50,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is_censored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286000"/>
            <a:ext cx="3566160" cy="1874519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Lipinski Rule of Five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MW ≤ 500, logP ≤ 5,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HBD ≤ 5, HBA ≤ 10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+ суммарный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86000"/>
            <a:ext cx="3566160" cy="1874519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Veber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0175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RotBonds ≤ 10,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TPSA ≤ 140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+ суммарный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3566160" cy="1874519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Size-adjusted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logP/MW, TPSA/MW,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hbond/MW,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rotbond/heavy_atom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343400"/>
            <a:ext cx="3566160" cy="1874519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Заряды и EState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749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charge_range,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EState_range,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abs_charge_sum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343400"/>
            <a:ext cx="3566160" cy="1874519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Group aggregates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50749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sum/mean/std/max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для VSA, fr_, Chi,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BCUT, SlogP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Дедупликация повторных измерений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В train 181 строка в 60 группах — это повторы биологических тестов с шумом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Алгоритм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1.  StandardScaler на признаках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2.  Группы по евклидову расстоянию &lt; 0.01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3.  Усреднение log1p(target) внутри групп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4.  log-mean робастен к выбросам и сохраняет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     логарифмическую природу величин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86000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Эффект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FFB74D"/>
                </a:solidFill>
                <a:latin typeface="Inter"/>
              </a:rPr>
              <a:t>751  →  630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40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0A6"/>
                </a:solidFill>
                <a:latin typeface="Inter"/>
              </a:rPr>
              <a:t>строк в 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34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0A6"/>
                </a:solidFill>
                <a:latin typeface="Inter"/>
              </a:rPr>
              <a:t>OOF CC50 (главный выигрыш)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66BB6A"/>
                </a:solidFill>
                <a:latin typeface="Inter"/>
              </a:rPr>
              <a:t>1.13  →  0.96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486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Inter"/>
              </a:rPr>
              <a:t>снижение шума в обучающих таргетах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Mixup-аугментация и Clean-subset для 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Inter"/>
              </a:rPr>
              <a:t>Mixup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B74D"/>
                </a:solidFill>
                <a:latin typeface="Menlo"/>
              </a:rPr>
              <a:t>x' = λ·x_i + (1 − λ)·x_j      λ ~ Beta(α, 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8EAED"/>
                </a:solidFill>
                <a:latin typeface="Inter"/>
              </a:rPr>
              <a:t>n_synthetic = 300</a:t>
            </a:r>
          </a:p>
          <a:p>
            <a:pPr algn="l"/>
            <a:r>
              <a:rPr sz="1500" b="0">
                <a:solidFill>
                  <a:srgbClr val="E8EAED"/>
                </a:solidFill>
                <a:latin typeface="Inter"/>
              </a:rPr>
              <a:t>alpha =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5029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Inter"/>
              </a:rPr>
              <a:t>α=0.4 → λ U-образно: большинство синтетических точек</a:t>
            </a:r>
          </a:p>
          <a:p>
            <a:pPr algn="l"/>
            <a:r>
              <a:rPr sz="1200" b="0">
                <a:solidFill>
                  <a:srgbClr val="9AA0A6"/>
                </a:solidFill>
                <a:latin typeface="Inter"/>
              </a:rPr>
              <a:t>близко к одному из исходных образцов → мягкий шум,</a:t>
            </a:r>
          </a:p>
          <a:p>
            <a:pPr algn="l"/>
            <a:r>
              <a:rPr sz="1200" b="0">
                <a:solidFill>
                  <a:srgbClr val="9AA0A6"/>
                </a:solidFill>
                <a:latin typeface="Inter"/>
              </a:rPr>
              <a:t>регуляризация без потери сигнала.</a:t>
            </a:r>
          </a:p>
          <a:p>
            <a:pPr algn="l"/>
            <a:r>
              <a:rPr sz="1200" b="0">
                <a:solidFill>
                  <a:srgbClr val="9AA0A6"/>
                </a:solidFill>
                <a:latin typeface="Inter"/>
              </a:rPr>
              <a:t/>
            </a:r>
          </a:p>
          <a:p>
            <a:pPr algn="l"/>
            <a:r>
              <a:rPr sz="1200" b="0">
                <a:solidFill>
                  <a:srgbClr val="9AA0A6"/>
                </a:solidFill>
                <a:latin typeface="Inter"/>
              </a:rPr>
              <a:t>n=300 — компромисс. n=500 на public хуже,</a:t>
            </a:r>
          </a:p>
          <a:p>
            <a:pPr algn="l"/>
            <a:r>
              <a:rPr sz="1200" b="0">
                <a:solidFill>
                  <a:srgbClr val="9AA0A6"/>
                </a:solidFill>
                <a:latin typeface="Inter"/>
              </a:rPr>
              <a:t>n=100 не хватает регуляризации.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86000"/>
            <a:ext cx="5257800" cy="41148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FC3F7"/>
                </a:solidFill>
                <a:latin typeface="Inter"/>
              </a:rPr>
              <a:t>Clean subset для 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71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B74D"/>
                </a:solidFill>
                <a:latin typeface="Menlo"/>
              </a:rPr>
              <a:t>percentile = 98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11880"/>
            <a:ext cx="48463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SI: max ≈ 15 600 при медиане 4 →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крайний хвост = измерительный шум,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а не реальная селективность.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IC50 / CC50 — обучаем на полном train.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SI — отдельно на 98 % распределения.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Базовые модели и стэкинг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Два tree-based базовых + Ridge с положительными весами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66160" cy="40233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Inter"/>
              </a:rPr>
              <a:t>CatBoost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градиентный бустинг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Лучший single-model OOF.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Устойчив к шуму таргетов.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Не требует масштабирования.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«Стабильный костяк» стека.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566160" cy="40233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FC3F7"/>
                </a:solidFill>
                <a:latin typeface="Inter"/>
              </a:rPr>
              <a:t>ExtraTrees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случайные сплиты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Полностью случайные сплиты —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ортогональный источник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вариативности к бустингу.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/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Даёт реальную диверсификацию</a:t>
            </a:r>
          </a:p>
          <a:p>
            <a:pPr algn="l"/>
            <a:r>
              <a:rPr sz="1300" b="0">
                <a:solidFill>
                  <a:srgbClr val="E8EAED"/>
                </a:solidFill>
                <a:latin typeface="Inter"/>
              </a:rPr>
              <a:t>для стэкинга.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86000"/>
            <a:ext cx="3566160" cy="402336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B74D"/>
                </a:solidFill>
                <a:latin typeface="Inter"/>
              </a:rPr>
              <a:t>Ridge 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Menlo"/>
              </a:rPr>
              <a:t>positive=True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429000"/>
            <a:ext cx="3200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Отдельно для каждого таргета.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Запрет отрицательных весов: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базовые модели коррелированны —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без ограничения Ridge может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выдать отрицательный коэф.,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что геометрически бессмысленно.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Что НЕ используется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Сознательные отказы, подтверждённые экспериментами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532120" cy="109728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5350"/>
                </a:solidFill>
                <a:latin typeface="Inter"/>
              </a:rPr>
              <a:t>LightGBM / XGBoost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В стеке с Cat + ET → хуже OOF на 750 строках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286000"/>
            <a:ext cx="5532120" cy="109728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423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5350"/>
                </a:solidFill>
                <a:latin typeface="Inter"/>
              </a:rPr>
              <a:t>Ridge / ElasticNet / SVR как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880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Линейные модели не справляются с лог-нормальными хвостами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66160"/>
            <a:ext cx="5532120" cy="109728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5350"/>
                </a:solidFill>
                <a:latin typeface="Inter"/>
              </a:rPr>
              <a:t>MLP / TabNet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750 строк недостаточно для нейросети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566160"/>
            <a:ext cx="5532120" cy="109728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3703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5350"/>
                </a:solidFill>
                <a:latin typeface="Inter"/>
              </a:rPr>
              <a:t>SMILES / fingerprints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160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Запрещены external data по условиям соревнования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5532120" cy="109728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5350"/>
                </a:solidFill>
                <a:latin typeface="Inter"/>
              </a:rPr>
              <a:t>Pseudo-labeling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40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Нестабильно на малом тесте, риск утечки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846320"/>
            <a:ext cx="5532120" cy="109728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983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F5350"/>
                </a:solidFill>
                <a:latin typeface="Inter"/>
              </a:rPr>
              <a:t>Каскад IC50 → CC50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5440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Нестабильно, риск переобучения через OOF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Эксперименты: что попробовали и отбросили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A0A6"/>
                </a:solidFill>
                <a:latin typeface="Inter"/>
              </a:rPr>
              <a:t>Все техники сравнивались по OOF и по public LB — оставили только то, что улучшает оба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1064240" cy="457200"/>
          </a:xfrm>
          <a:prstGeom prst="roundRect">
            <a:avLst>
              <a:gd name="adj" fmla="val 4000"/>
            </a:avLst>
          </a:prstGeom>
          <a:solidFill>
            <a:srgbClr val="2A3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A0A6"/>
                </a:solidFill>
                <a:latin typeface="Inter"/>
              </a:rPr>
              <a:t>Подход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A0A6"/>
                </a:solidFill>
                <a:latin typeface="Inter"/>
              </a:rPr>
              <a:t>Δ 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774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A0A6"/>
                </a:solidFill>
                <a:latin typeface="Inter"/>
              </a:rPr>
              <a:t>Δ 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3774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AA0A6"/>
                </a:solidFill>
                <a:latin typeface="Inter"/>
              </a:rPr>
              <a:t>Решение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Inter"/>
              </a:rPr>
              <a:t>LightGBM-huber на SI-голову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−0.01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7889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78892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5350"/>
                </a:solidFill>
                <a:latin typeface="Inter"/>
              </a:rPr>
              <a:t>отброшено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7296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Inter"/>
              </a:rPr>
              <a:t>Per-target Optuna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7296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≈0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17296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+0.4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17296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5350"/>
                </a:solidFill>
                <a:latin typeface="Inter"/>
              </a:rPr>
              <a:t>отброшено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57015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Inter"/>
              </a:rPr>
              <a:t>PCA + Smart PCA Augmentation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57015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557015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+1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57015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5350"/>
                </a:solidFill>
                <a:latin typeface="Inter"/>
              </a:rPr>
              <a:t>отброшено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41063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Inter"/>
              </a:rPr>
              <a:t>Формула SI = pred(CC50) / pred(IC50)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941063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−0.01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941063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+2–3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941063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5350"/>
                </a:solidFill>
                <a:latin typeface="Inter"/>
              </a:rPr>
              <a:t>отброшено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32511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Inter"/>
              </a:rPr>
              <a:t>Каскад IC50 → CC50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2511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неуст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32511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разная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32511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5350"/>
                </a:solidFill>
                <a:latin typeface="Inter"/>
              </a:rPr>
              <a:t>отброшено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7091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Inter"/>
              </a:rPr>
              <a:t>Adversarial dropping drift-фичей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091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+0.005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709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±0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7091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5350"/>
                </a:solidFill>
                <a:latin typeface="Inter"/>
              </a:rPr>
              <a:t>AUC≈0.52, drift слабый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09320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Inter"/>
              </a:rPr>
              <a:t>Multi-seed bagging (5–8 сидов)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932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±шум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09320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±0.5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509320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5350"/>
                </a:solidFill>
                <a:latin typeface="Inter"/>
              </a:rPr>
              <a:t>effect ≤ noise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47725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Inter"/>
              </a:rPr>
              <a:t>pIC50 (−log10) вместо log1p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47725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−0.02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547725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+1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5477256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5350"/>
                </a:solidFill>
                <a:latin typeface="Inter"/>
              </a:rPr>
              <a:t>отброшено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86130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AED"/>
                </a:solidFill>
                <a:latin typeface="Inter"/>
              </a:rPr>
              <a:t>Mixup n=500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86130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±шум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586130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+1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5861304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F5350"/>
                </a:solidFill>
                <a:latin typeface="Inter"/>
              </a:rPr>
              <a:t>отброшено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Гиперпараметры и финальные 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FC3F7"/>
                </a:solidFill>
                <a:latin typeface="Inter"/>
              </a:rPr>
              <a:t>CatBoost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iterations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926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939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2186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112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learning_rate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51129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0.1015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039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l2_leaf_reg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8039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7.40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96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subsample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09651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0.68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bootstrap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Bernoulli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FC3F7"/>
                </a:solidFill>
                <a:latin typeface="Inter"/>
              </a:rPr>
              <a:t>ExtraTrees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n_estimators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349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1000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052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max_depth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60527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613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min_samples_leaf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86130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173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AA0A6"/>
                </a:solidFill>
                <a:latin typeface="Menlo"/>
              </a:rPr>
              <a:t>max_features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61173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Menlo"/>
              </a:rPr>
              <a:t>0.383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286000"/>
            <a:ext cx="5349240" cy="41148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468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FC3F7"/>
                </a:solidFill>
                <a:latin typeface="Inter"/>
              </a:rPr>
              <a:t>Финальный OOF (5-fold)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1089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B74D"/>
                </a:solidFill>
                <a:latin typeface="Inter"/>
              </a:rPr>
              <a:t>IC50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EAED"/>
                </a:solidFill>
                <a:latin typeface="Inter"/>
              </a:rPr>
              <a:t>1.2665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Menlo"/>
              </a:rPr>
              <a:t>cat=0.52  et=0.49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886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B74D"/>
                </a:solidFill>
                <a:latin typeface="Inter"/>
              </a:rPr>
              <a:t>CC50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886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EAED"/>
                </a:solidFill>
                <a:latin typeface="Inter"/>
              </a:rPr>
              <a:t>0.9618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Menlo"/>
              </a:rPr>
              <a:t>cat=0.90  et=0.10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663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B74D"/>
                </a:solidFill>
                <a:latin typeface="Inter"/>
              </a:rPr>
              <a:t>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6634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8EAED"/>
                </a:solidFill>
                <a:latin typeface="Inter"/>
              </a:rPr>
              <a:t>0.9381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74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Menlo"/>
              </a:rPr>
              <a:t>cat=0.49  et=0.51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532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AA0A6"/>
                </a:solidFill>
                <a:latin typeface="Inter"/>
              </a:rPr>
              <a:t>Mean stack OOF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4406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600" b="1">
                <a:solidFill>
                  <a:srgbClr val="66BB6A"/>
                </a:solidFill>
                <a:latin typeface="Inter"/>
              </a:rPr>
              <a:t>1.0555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Воспроизводимость и честность решения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Все seeds зафиксированы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SEED=42 для numpy, KFold, CatBoost, ExtraTrees, mixup-генератора.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Расхождение между двумя Run All — порядка 1e-11 (машинное ε).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3756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Только разрешённые данные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Используются train.csv и test.csv. Никакого SMILES-поиска,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pretrained chem-embeddings, fingerprints или внешних баз.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80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Никакой утечки в обучение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46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Mixup применяется только к тренировочным фолдам. Валидация —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на оригинальных строках. Стэкинг строится на out-of-fold предсказаниях.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40679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5321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Inter"/>
              </a:rPr>
              <a:t>Нет ручной подгонки под LB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79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Одна финальная конфигурация. Выбор техник по двойному критерию: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улучшение и на OOF, и на public LB.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0" cy="508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0A6"/>
                </a:solidFill>
                <a:latin typeface="Inter"/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Inter"/>
              </a:rPr>
              <a:t>Итоги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1064240" cy="201168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B74D"/>
                </a:solidFill>
                <a:latin typeface="Inter"/>
              </a:rPr>
              <a:t>Финальный пайплайн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Domain-aware FE (Lipinski + Veber + censoring flags + size-adjusted)</a:t>
            </a:r>
          </a:p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   →  Дедупликация log-mean (751 → 630)</a:t>
            </a:r>
          </a:p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   →  Mixup n=300, α=0.4   →   Clean subset для SI (perc=98)</a:t>
            </a:r>
          </a:p>
          <a:p>
            <a:pPr algn="l"/>
            <a:r>
              <a:rPr sz="1400" b="0">
                <a:solidFill>
                  <a:srgbClr val="E8EAED"/>
                </a:solidFill>
                <a:latin typeface="Inter"/>
              </a:rPr>
              <a:t>   →  CatBoost + ExtraTrees  →   Stacking Ridge (positive)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2628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Inter"/>
              </a:rPr>
              <a:t>Что дало основной прирост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·  Дедупликация повторных измерений (CC50: 1.13 → 0.96)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·  Censoring flags для аномальных CC50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·  Clean subset для SI с тяжёлым хвостом</a:t>
            </a:r>
          </a:p>
          <a:p>
            <a:pPr algn="l"/>
            <a:r>
              <a:rPr sz="1200" b="0">
                <a:solidFill>
                  <a:srgbClr val="E8EAED"/>
                </a:solidFill>
                <a:latin typeface="Inter"/>
              </a:rPr>
              <a:t>·  Diversity Cat + ET в стэке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526280"/>
            <a:ext cx="5349240" cy="1920240"/>
          </a:xfrm>
          <a:prstGeom prst="roundRect">
            <a:avLst>
              <a:gd name="adj" fmla="val 4000"/>
            </a:avLst>
          </a:prstGeom>
          <a:solidFill>
            <a:srgbClr val="1F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Inter"/>
              </a:rPr>
              <a:t>Команда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0749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Inter"/>
              </a:rPr>
              <a:t>Тима Тимы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7150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6BB6A"/>
                </a:solidFill>
                <a:latin typeface="Inter"/>
              </a:rPr>
              <a:t>Public LB: 290.09  ·  7-е место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